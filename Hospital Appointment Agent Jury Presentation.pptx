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418200" y="812800"/>
            <a:ext cx="7642523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418200" y="1564614"/>
            <a:ext cx="99610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1418200" y="812800"/>
            <a:ext cx="7642523" cy="44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1418200" y="1564614"/>
            <a:ext cx="9961000" cy="4480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FC1B0"/>
          </a:solidFill>
          <a:ln/>
        </p:spPr>
      </p:sp>
      <p:sp>
        <p:nvSpPr>
          <p:cNvPr id="3" name="Shape 1"/>
          <p:cNvSpPr/>
          <p:nvPr/>
        </p:nvSpPr>
        <p:spPr>
          <a:xfrm>
            <a:off x="10820400" y="457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0718800" y="965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298310"/>
            <a:ext cx="64096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 MINI PROJECT | UNITS III AND IV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1742810"/>
            <a:ext cx="640969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Agent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12800" y="3261651"/>
            <a:ext cx="6629400" cy="316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95"/>
              </a:lnSpc>
              <a:buNone/>
            </a:pPr>
            <a:r>
              <a:rPr lang="en-US" sz="17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"Book the earliest cardiologist appointment tomorrow after 3 PM"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42200" y="8128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9" name="Text 7"/>
          <p:cNvSpPr/>
          <p:nvPr/>
        </p:nvSpPr>
        <p:spPr>
          <a:xfrm>
            <a:off x="7505700" y="8763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12100" y="891514"/>
            <a:ext cx="222988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request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42200" y="12827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12" name="Text 10"/>
          <p:cNvSpPr/>
          <p:nvPr/>
        </p:nvSpPr>
        <p:spPr>
          <a:xfrm>
            <a:off x="7505700" y="13462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912100" y="1361414"/>
            <a:ext cx="231227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missing information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42200" y="17526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15" name="Text 13"/>
          <p:cNvSpPr/>
          <p:nvPr/>
        </p:nvSpPr>
        <p:spPr>
          <a:xfrm>
            <a:off x="7505700" y="1816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12100" y="1831314"/>
            <a:ext cx="143502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doctors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42200" y="22225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18" name="Text 16"/>
          <p:cNvSpPr/>
          <p:nvPr/>
        </p:nvSpPr>
        <p:spPr>
          <a:xfrm>
            <a:off x="7505700" y="22860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12100" y="2301214"/>
            <a:ext cx="1648381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availability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42200" y="26924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1" name="Text 19"/>
          <p:cNvSpPr/>
          <p:nvPr/>
        </p:nvSpPr>
        <p:spPr>
          <a:xfrm>
            <a:off x="7505700" y="27559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12100" y="2771114"/>
            <a:ext cx="207581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the appointment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442200" y="31623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4" name="Text 22"/>
          <p:cNvSpPr/>
          <p:nvPr/>
        </p:nvSpPr>
        <p:spPr>
          <a:xfrm>
            <a:off x="7505700" y="32258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12100" y="3241014"/>
            <a:ext cx="1601153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 the patient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42200" y="3632200"/>
            <a:ext cx="3937000" cy="4064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27" name="Text 25"/>
          <p:cNvSpPr/>
          <p:nvPr/>
        </p:nvSpPr>
        <p:spPr>
          <a:xfrm>
            <a:off x="7505700" y="36957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0"/>
                </a:moveTo>
                <a:lnTo>
                  <a:pt x="139700" y="0"/>
                </a:lnTo>
                <a:arcTo hR="139700" wR="139700" stAng="16200000" swAng="5400000"/>
                <a:lnTo>
                  <a:pt x="279400" y="139700"/>
                </a:lnTo>
                <a:arcTo hR="139700" wR="139700" stAng="0" swAng="5400000"/>
                <a:lnTo>
                  <a:pt x="139700" y="279400"/>
                </a:lnTo>
                <a:arcTo hR="139700" wR="139700" stAng="5400000" swAng="5400000"/>
                <a:lnTo>
                  <a:pt x="0" y="139700"/>
                </a:lnTo>
                <a:arcTo hR="139700" wR="139700" stAng="10800000" swAng="5400000"/>
                <a:close/>
              </a:path>
            </a:pathLst>
          </a:custGeom>
          <a:solidFill>
            <a:srgbClr val="3FC1B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12100" y="3710914"/>
            <a:ext cx="1660128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alternatives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12800" y="4292600"/>
            <a:ext cx="3420533" cy="944827"/>
          </a:xfrm>
          <a:prstGeom prst="roundRect">
            <a:avLst>
              <a:gd name="adj" fmla="val 10753"/>
            </a:avLst>
          </a:prstGeom>
          <a:solidFill>
            <a:srgbClr val="F2A541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000" y="4445000"/>
            <a:ext cx="305197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1422731" y="4649457"/>
            <a:ext cx="179046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capabilities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85733" y="4292600"/>
            <a:ext cx="3420533" cy="944827"/>
          </a:xfrm>
          <a:prstGeom prst="roundRect">
            <a:avLst>
              <a:gd name="adj" fmla="val 10753"/>
            </a:avLst>
          </a:prstGeom>
          <a:solidFill>
            <a:srgbClr val="F2A541"/>
          </a:solidFill>
          <a:ln/>
        </p:spPr>
      </p:sp>
      <p:sp>
        <p:nvSpPr>
          <p:cNvPr id="33" name="Text 31"/>
          <p:cNvSpPr/>
          <p:nvPr/>
        </p:nvSpPr>
        <p:spPr>
          <a:xfrm>
            <a:off x="4588933" y="4445000"/>
            <a:ext cx="305197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4995664" y="4649457"/>
            <a:ext cx="193254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 modules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958667" y="4292600"/>
            <a:ext cx="3420533" cy="944827"/>
          </a:xfrm>
          <a:prstGeom prst="roundRect">
            <a:avLst>
              <a:gd name="adj" fmla="val 10753"/>
            </a:avLst>
          </a:prstGeom>
          <a:solidFill>
            <a:srgbClr val="F2A541"/>
          </a:solidFill>
          <a:ln/>
        </p:spPr>
      </p:sp>
      <p:sp>
        <p:nvSpPr>
          <p:cNvPr id="36" name="Text 34"/>
          <p:cNvSpPr/>
          <p:nvPr/>
        </p:nvSpPr>
        <p:spPr>
          <a:xfrm>
            <a:off x="8161867" y="4445000"/>
            <a:ext cx="305197" cy="665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8568598" y="4649457"/>
            <a:ext cx="2335451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cardiologist agents bid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12800" y="6238280"/>
            <a:ext cx="38290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| Ollama | SQLite | Streamlit | 1 of 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776B"/>
          </a:solidFill>
          <a:ln/>
        </p:spPr>
      </p:sp>
      <p:sp>
        <p:nvSpPr>
          <p:cNvPr id="3" name="Shape 1"/>
          <p:cNvSpPr/>
          <p:nvPr/>
        </p:nvSpPr>
        <p:spPr>
          <a:xfrm>
            <a:off x="10820400" y="457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/>
        </p:spPr>
      </p:sp>
      <p:sp>
        <p:nvSpPr>
          <p:cNvPr id="4" name="Shape 2"/>
          <p:cNvSpPr/>
          <p:nvPr/>
        </p:nvSpPr>
        <p:spPr>
          <a:xfrm>
            <a:off x="10718800" y="965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26757"/>
            <a:ext cx="1011767" cy="419100"/>
          </a:xfrm>
          <a:prstGeom prst="roundRect">
            <a:avLst>
              <a:gd name="adj" fmla="val 18182"/>
            </a:avLst>
          </a:prstGeom>
          <a:solidFill>
            <a:srgbClr val="1277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III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2002367" y="812800"/>
            <a:ext cx="4272201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and Tools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5975" y="1516989"/>
            <a:ext cx="5175250" cy="1164034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233" y="18704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8F0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29833" y="1721247"/>
            <a:ext cx="428184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29833" y="2031074"/>
            <a:ext cx="42818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doctor and accept or reject history persist in SQLite across sessions.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00775" y="1516989"/>
            <a:ext cx="5175250" cy="1164034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5033" y="18704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8F0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🔎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14634" y="1721247"/>
            <a:ext cx="428184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retrieval (RAG)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14634" y="2031074"/>
            <a:ext cx="42818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like chest pain are matched to cardiology by cosine similarity.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5975" y="2941373"/>
            <a:ext cx="5175250" cy="1164034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0233" y="3294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8F0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9833" y="3145631"/>
            <a:ext cx="428184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adaptation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29833" y="3455459"/>
            <a:ext cx="42818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approval or rejection updates a doctor score for the next ranking.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00775" y="2941373"/>
            <a:ext cx="5175250" cy="1164034"/>
          </a:xfrm>
          <a:prstGeom prst="roundRect">
            <a:avLst>
              <a:gd name="adj" fmla="val 845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5033" y="329479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D8F0E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14634" y="3145631"/>
            <a:ext cx="4281847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014634" y="3455459"/>
            <a:ext cx="4281847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tools search, read slots and book atomically. The LLM never edits data.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800" y="4362583"/>
            <a:ext cx="5207000" cy="1160661"/>
          </a:xfrm>
          <a:prstGeom prst="roundRect">
            <a:avLst>
              <a:gd name="adj" fmla="val 8754"/>
            </a:avLst>
          </a:prstGeom>
          <a:solidFill>
            <a:srgbClr val="0F1B2D"/>
          </a:solidFill>
          <a:ln/>
        </p:spPr>
      </p:sp>
      <p:sp>
        <p:nvSpPr>
          <p:cNvPr id="24" name="Text 22"/>
          <p:cNvSpPr/>
          <p:nvPr/>
        </p:nvSpPr>
        <p:spPr>
          <a:xfrm>
            <a:off x="1041400" y="4540383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PATIENT (ANITA)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1400" y="4791803"/>
            <a:ext cx="489229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Mehta, 4:30 PM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41400" y="5132123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re-ranks within 60 min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72200" y="4362583"/>
            <a:ext cx="5207000" cy="1160661"/>
          </a:xfrm>
          <a:prstGeom prst="roundRect">
            <a:avLst>
              <a:gd name="adj" fmla="val 8754"/>
            </a:avLst>
          </a:prstGeom>
          <a:solidFill>
            <a:srgbClr val="0F1B2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4540383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PATIENT (RAVI)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0" y="4791803"/>
            <a:ext cx="489229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Rao, 3:30 PM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00800" y="5132123"/>
            <a:ext cx="48922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the earliest slot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800" y="6238280"/>
            <a:ext cx="28536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Agent | 2 of 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FC1B0"/>
          </a:solidFill>
          <a:ln/>
        </p:spPr>
      </p:sp>
      <p:sp>
        <p:nvSpPr>
          <p:cNvPr id="3" name="Shape 1"/>
          <p:cNvSpPr/>
          <p:nvPr/>
        </p:nvSpPr>
        <p:spPr>
          <a:xfrm>
            <a:off x="10820400" y="457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0718800" y="965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826757"/>
            <a:ext cx="1033000" cy="419100"/>
          </a:xfrm>
          <a:prstGeom prst="roundRect">
            <a:avLst>
              <a:gd name="adj" fmla="val 18182"/>
            </a:avLst>
          </a:prstGeom>
          <a:solidFill>
            <a:srgbClr val="F2A54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IV</a:t>
            </a:r>
            <a:endParaRPr lang="en-US" sz="15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2023600" y="812800"/>
            <a:ext cx="5662374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Contract Net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1513815"/>
            <a:ext cx="2260600" cy="1836936"/>
          </a:xfrm>
          <a:prstGeom prst="roundRect">
            <a:avLst>
              <a:gd name="adj" fmla="val 5531"/>
            </a:avLst>
          </a:prstGeom>
          <a:solidFill>
            <a:srgbClr val="1A2A44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513815"/>
            <a:ext cx="2260600" cy="1836936"/>
          </a:xfrm>
          <a:custGeom>
            <a:avLst/>
            <a:gdLst/>
            <a:ahLst/>
            <a:cxnLst/>
            <a:rect l="l" t="t" r="r" b="b"/>
            <a:pathLst>
              <a:path w="2260600" h="18369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76781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6000" y="2174215"/>
            <a:ext cx="19098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for proposals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16000" y="2479015"/>
            <a:ext cx="190982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agent sends a cfp to each cardiologist agent.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75000" y="2218928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581400" y="1513815"/>
            <a:ext cx="2260600" cy="1836936"/>
          </a:xfrm>
          <a:prstGeom prst="roundRect">
            <a:avLst>
              <a:gd name="adj" fmla="val 5531"/>
            </a:avLst>
          </a:prstGeom>
          <a:solidFill>
            <a:srgbClr val="1A2A44"/>
          </a:solidFill>
          <a:ln/>
        </p:spPr>
      </p:sp>
      <p:sp>
        <p:nvSpPr>
          <p:cNvPr id="14" name="Shape 12"/>
          <p:cNvSpPr/>
          <p:nvPr/>
        </p:nvSpPr>
        <p:spPr>
          <a:xfrm>
            <a:off x="3581400" y="1513815"/>
            <a:ext cx="2260600" cy="1836936"/>
          </a:xfrm>
          <a:custGeom>
            <a:avLst/>
            <a:gdLst/>
            <a:ahLst/>
            <a:cxnLst/>
            <a:rect l="l" t="t" r="r" b="b"/>
            <a:pathLst>
              <a:path w="2260600" h="18369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3784600" y="176781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84600" y="2174215"/>
            <a:ext cx="19098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 or refuse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784600" y="2479015"/>
            <a:ext cx="1909826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doctor agent checks its own calendar and bids.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2218928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50000" y="1513815"/>
            <a:ext cx="2260600" cy="1836936"/>
          </a:xfrm>
          <a:prstGeom prst="roundRect">
            <a:avLst>
              <a:gd name="adj" fmla="val 5531"/>
            </a:avLst>
          </a:prstGeom>
          <a:solidFill>
            <a:srgbClr val="1A2A44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0000" y="1513815"/>
            <a:ext cx="2260600" cy="1836936"/>
          </a:xfrm>
          <a:custGeom>
            <a:avLst/>
            <a:gdLst/>
            <a:ahLst/>
            <a:cxnLst/>
            <a:rect l="l" t="t" r="r" b="b"/>
            <a:pathLst>
              <a:path w="2260600" h="18369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200" y="176781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3200" y="2174215"/>
            <a:ext cx="19098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Award contract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53200" y="2479015"/>
            <a:ext cx="190982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ranks bids and accepts the best one.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12200" y="2218928"/>
            <a:ext cx="365760" cy="45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118600" y="1513815"/>
            <a:ext cx="2260600" cy="1836936"/>
          </a:xfrm>
          <a:prstGeom prst="roundRect">
            <a:avLst>
              <a:gd name="adj" fmla="val 5531"/>
            </a:avLst>
          </a:prstGeom>
          <a:solidFill>
            <a:srgbClr val="1A2A44"/>
          </a:solidFill>
          <a:ln/>
        </p:spPr>
      </p:sp>
      <p:sp>
        <p:nvSpPr>
          <p:cNvPr id="26" name="Shape 24"/>
          <p:cNvSpPr/>
          <p:nvPr/>
        </p:nvSpPr>
        <p:spPr>
          <a:xfrm>
            <a:off x="9118600" y="1513815"/>
            <a:ext cx="2260600" cy="1836936"/>
          </a:xfrm>
          <a:custGeom>
            <a:avLst/>
            <a:gdLst/>
            <a:ahLst/>
            <a:cxnLst/>
            <a:rect l="l" t="t" r="r" b="b"/>
            <a:pathLst>
              <a:path w="2260600" h="1836936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2159000" y="0"/>
                </a:lnTo>
                <a:arcTo hR="101600" wR="101600" stAng="16200000" swAng="5400000"/>
                <a:lnTo>
                  <a:pt x="2260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9321800" y="176781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hR="165100" wR="165100" stAng="16200000" swAng="5400000"/>
                <a:lnTo>
                  <a:pt x="330200" y="165100"/>
                </a:lnTo>
                <a:arcTo hR="165100" wR="165100" stAng="0" swAng="5400000"/>
                <a:lnTo>
                  <a:pt x="165100" y="330200"/>
                </a:lnTo>
                <a:arcTo hR="165100" wR="165100" stAng="5400000" swAng="5400000"/>
                <a:lnTo>
                  <a:pt x="0" y="165100"/>
                </a:lnTo>
                <a:arcTo hR="165100" wR="165100" stAng="10800000" swAng="5400000"/>
                <a:close/>
              </a:path>
            </a:pathLst>
          </a:custGeom>
          <a:solidFill>
            <a:srgbClr val="F2A54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1800" y="2174215"/>
            <a:ext cx="190982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conflict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321800" y="2479015"/>
            <a:ext cx="190982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slot is taken, the next bidder wins.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2800" y="3604751"/>
            <a:ext cx="5181600" cy="1605227"/>
          </a:xfrm>
          <a:prstGeom prst="roundRect">
            <a:avLst>
              <a:gd name="adj" fmla="val 6329"/>
            </a:avLst>
          </a:prstGeom>
          <a:solidFill>
            <a:srgbClr val="1A2A44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" y="3807951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FIPA-ACL performatives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22350" y="4169901"/>
            <a:ext cx="563959" cy="370814"/>
          </a:xfrm>
          <a:prstGeom prst="roundRect">
            <a:avLst>
              <a:gd name="adj" fmla="val 18837"/>
            </a:avLst>
          </a:prstGeom>
          <a:solidFill>
            <a:srgbClr val="0F1B2D"/>
          </a:solidFill>
          <a:ln w="12700">
            <a:solidFill>
              <a:srgbClr val="3FC1B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C1B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cfp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75209" y="4169901"/>
            <a:ext cx="960239" cy="370814"/>
          </a:xfrm>
          <a:prstGeom prst="roundRect">
            <a:avLst>
              <a:gd name="adj" fmla="val 18837"/>
            </a:avLst>
          </a:prstGeom>
          <a:solidFill>
            <a:srgbClr val="0F1B2D"/>
          </a:solidFill>
          <a:ln w="12700">
            <a:solidFill>
              <a:srgbClr val="3FC1B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C1B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propose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724348" y="4169901"/>
            <a:ext cx="861219" cy="370814"/>
          </a:xfrm>
          <a:prstGeom prst="roundRect">
            <a:avLst>
              <a:gd name="adj" fmla="val 18837"/>
            </a:avLst>
          </a:prstGeom>
          <a:solidFill>
            <a:srgbClr val="0F1B2D"/>
          </a:solidFill>
          <a:ln w="12700">
            <a:solidFill>
              <a:srgbClr val="3FC1B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C1B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refuse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74467" y="4169901"/>
            <a:ext cx="1752865" cy="370814"/>
          </a:xfrm>
          <a:prstGeom prst="roundRect">
            <a:avLst>
              <a:gd name="adj" fmla="val 18837"/>
            </a:avLst>
          </a:prstGeom>
          <a:solidFill>
            <a:srgbClr val="0F1B2D"/>
          </a:solidFill>
          <a:ln w="12700">
            <a:solidFill>
              <a:srgbClr val="3FC1B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C1B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accept-proposal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22350" y="4629614"/>
            <a:ext cx="1752865" cy="370814"/>
          </a:xfrm>
          <a:prstGeom prst="roundRect">
            <a:avLst>
              <a:gd name="adj" fmla="val 18837"/>
            </a:avLst>
          </a:prstGeom>
          <a:solidFill>
            <a:srgbClr val="0F1B2D"/>
          </a:solidFill>
          <a:ln w="12700">
            <a:solidFill>
              <a:srgbClr val="3FC1B0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FC1B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reject-proposal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97600" y="3604751"/>
            <a:ext cx="5181600" cy="1605227"/>
          </a:xfrm>
          <a:prstGeom prst="roundRect">
            <a:avLst>
              <a:gd name="adj" fmla="val 6329"/>
            </a:avLst>
          </a:prstGeom>
          <a:solidFill>
            <a:srgbClr val="3FC1B0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807951"/>
            <a:ext cx="491845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Human-agent collaboration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00800" y="4100051"/>
            <a:ext cx="4918456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or reject before booking. Explains the chosen slot. Refuses medical advice and masks phone numbers.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80"/>
            <a:ext cx="28536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Agent | 3 of 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2776B"/>
          </a:solidFill>
          <a:ln/>
        </p:spPr>
      </p:sp>
      <p:sp>
        <p:nvSpPr>
          <p:cNvPr id="3" name="Shape 1"/>
          <p:cNvSpPr/>
          <p:nvPr/>
        </p:nvSpPr>
        <p:spPr>
          <a:xfrm>
            <a:off x="10820400" y="457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/>
        </p:spPr>
      </p:sp>
      <p:sp>
        <p:nvSpPr>
          <p:cNvPr id="4" name="Shape 2"/>
          <p:cNvSpPr/>
          <p:nvPr/>
        </p:nvSpPr>
        <p:spPr>
          <a:xfrm>
            <a:off x="10718800" y="965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screenshots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15975" y="1516990"/>
            <a:ext cx="3397250" cy="2323637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033" y="1518047"/>
            <a:ext cx="3395133" cy="416520"/>
          </a:xfrm>
          <a:custGeom>
            <a:avLst/>
            <a:gdLst/>
            <a:ahLst/>
            <a:cxnLst/>
            <a:rect l="l" t="t" r="r" b="b"/>
            <a:pathLst>
              <a:path w="3395133" h="416520">
                <a:moveTo>
                  <a:pt x="101600" y="0"/>
                </a:moveTo>
                <a:lnTo>
                  <a:pt x="3293533" y="0"/>
                </a:lnTo>
                <a:arcTo hR="101600" wR="101600" stAng="16200000" swAng="5400000"/>
                <a:lnTo>
                  <a:pt x="3395133" y="416520"/>
                </a:lnTo>
                <a:lnTo>
                  <a:pt x="0" y="41652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E6E0D2"/>
          </a:solidFill>
          <a:ln/>
        </p:spPr>
      </p:sp>
      <p:sp>
        <p:nvSpPr>
          <p:cNvPr id="8" name="Shape 6"/>
          <p:cNvSpPr/>
          <p:nvPr/>
        </p:nvSpPr>
        <p:spPr>
          <a:xfrm>
            <a:off x="9440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5604F"/>
          </a:solidFill>
          <a:ln/>
        </p:spPr>
      </p:sp>
      <p:sp>
        <p:nvSpPr>
          <p:cNvPr id="9" name="Shape 7"/>
          <p:cNvSpPr/>
          <p:nvPr/>
        </p:nvSpPr>
        <p:spPr>
          <a:xfrm>
            <a:off x="11091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0" name="Shape 8"/>
          <p:cNvSpPr/>
          <p:nvPr/>
        </p:nvSpPr>
        <p:spPr>
          <a:xfrm>
            <a:off x="12742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FB27F"/>
          </a:solidFill>
          <a:ln/>
        </p:spPr>
      </p:sp>
      <p:sp>
        <p:nvSpPr>
          <p:cNvPr id="11" name="Text 9"/>
          <p:cNvSpPr/>
          <p:nvPr/>
        </p:nvSpPr>
        <p:spPr>
          <a:xfrm>
            <a:off x="1439333" y="1619647"/>
            <a:ext cx="14946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and approval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558" y="1944092"/>
            <a:ext cx="3376083" cy="1885950"/>
          </a:xfrm>
          <a:prstGeom prst="roundRect">
            <a:avLst>
              <a:gd name="adj" fmla="val 3535"/>
            </a:avLst>
          </a:prstGeom>
          <a:noFill/>
          <a:ln w="19050">
            <a:solidFill>
              <a:srgbClr val="9AA7B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2179796" y="2341629"/>
            <a:ext cx="6696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3548" y="2986749"/>
            <a:ext cx="346210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screenshot: proposal with Approve and Reject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97375" y="1516990"/>
            <a:ext cx="3397250" cy="2323637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8433" y="1518047"/>
            <a:ext cx="3395133" cy="416520"/>
          </a:xfrm>
          <a:custGeom>
            <a:avLst/>
            <a:gdLst/>
            <a:ahLst/>
            <a:cxnLst/>
            <a:rect l="l" t="t" r="r" b="b"/>
            <a:pathLst>
              <a:path w="3395133" h="416520">
                <a:moveTo>
                  <a:pt x="101600" y="0"/>
                </a:moveTo>
                <a:lnTo>
                  <a:pt x="3293533" y="0"/>
                </a:lnTo>
                <a:arcTo hR="101600" wR="101600" stAng="16200000" swAng="5400000"/>
                <a:lnTo>
                  <a:pt x="3395133" y="416520"/>
                </a:lnTo>
                <a:lnTo>
                  <a:pt x="0" y="41652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E6E0D2"/>
          </a:solidFill>
          <a:ln/>
        </p:spPr>
      </p:sp>
      <p:sp>
        <p:nvSpPr>
          <p:cNvPr id="17" name="Shape 15"/>
          <p:cNvSpPr/>
          <p:nvPr/>
        </p:nvSpPr>
        <p:spPr>
          <a:xfrm>
            <a:off x="45254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56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46905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19" name="Shape 17"/>
          <p:cNvSpPr/>
          <p:nvPr/>
        </p:nvSpPr>
        <p:spPr>
          <a:xfrm>
            <a:off x="4855633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FB27F"/>
          </a:solidFill>
          <a:ln/>
        </p:spPr>
      </p:sp>
      <p:sp>
        <p:nvSpPr>
          <p:cNvPr id="20" name="Text 18"/>
          <p:cNvSpPr/>
          <p:nvPr/>
        </p:nvSpPr>
        <p:spPr>
          <a:xfrm>
            <a:off x="5020733" y="1619647"/>
            <a:ext cx="1362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messages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07958" y="1944092"/>
            <a:ext cx="3376083" cy="1885950"/>
          </a:xfrm>
          <a:prstGeom prst="roundRect">
            <a:avLst>
              <a:gd name="adj" fmla="val 3535"/>
            </a:avLst>
          </a:prstGeom>
          <a:noFill/>
          <a:ln w="19050">
            <a:solidFill>
              <a:srgbClr val="9AA7B8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761196" y="2341629"/>
            <a:ext cx="6696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364948" y="2986749"/>
            <a:ext cx="346210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screenshot: cfp, propose, accept-proposal log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8775" y="1516990"/>
            <a:ext cx="3397250" cy="2323637"/>
          </a:xfrm>
          <a:prstGeom prst="roundRect">
            <a:avLst>
              <a:gd name="adj" fmla="val 4236"/>
            </a:avLst>
          </a:prstGeom>
          <a:solidFill>
            <a:srgbClr val="FFFFFF"/>
          </a:solidFill>
          <a:ln w="6350">
            <a:solidFill>
              <a:srgbClr val="DD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79834" y="1518047"/>
            <a:ext cx="3395133" cy="416520"/>
          </a:xfrm>
          <a:custGeom>
            <a:avLst/>
            <a:gdLst/>
            <a:ahLst/>
            <a:cxnLst/>
            <a:rect l="l" t="t" r="r" b="b"/>
            <a:pathLst>
              <a:path w="3395133" h="416520">
                <a:moveTo>
                  <a:pt x="101600" y="0"/>
                </a:moveTo>
                <a:lnTo>
                  <a:pt x="3293533" y="0"/>
                </a:lnTo>
                <a:arcTo hR="101600" wR="101600" stAng="16200000" swAng="5400000"/>
                <a:lnTo>
                  <a:pt x="3395133" y="416520"/>
                </a:lnTo>
                <a:lnTo>
                  <a:pt x="0" y="41652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E6E0D2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6834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E5604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71934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28" name="Shape 26"/>
          <p:cNvSpPr/>
          <p:nvPr/>
        </p:nvSpPr>
        <p:spPr>
          <a:xfrm>
            <a:off x="8437034" y="167547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FB27F"/>
          </a:solidFill>
          <a:ln/>
        </p:spPr>
      </p:sp>
      <p:sp>
        <p:nvSpPr>
          <p:cNvPr id="29" name="Text 27"/>
          <p:cNvSpPr/>
          <p:nvPr/>
        </p:nvSpPr>
        <p:spPr>
          <a:xfrm>
            <a:off x="8602134" y="1619647"/>
            <a:ext cx="19009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and evaluation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89359" y="1944092"/>
            <a:ext cx="3376083" cy="1885950"/>
          </a:xfrm>
          <a:prstGeom prst="roundRect">
            <a:avLst>
              <a:gd name="adj" fmla="val 3535"/>
            </a:avLst>
          </a:prstGeom>
          <a:noFill/>
          <a:ln w="19050">
            <a:solidFill>
              <a:srgbClr val="9AA7B8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9342596" y="2341629"/>
            <a:ext cx="66960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dirty="0">
                <a:solidFill>
                  <a:srgbClr val="1B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7946348" y="2986749"/>
            <a:ext cx="3462105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screenshot: feedback history and test table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2800" y="4097801"/>
            <a:ext cx="1392568" cy="408914"/>
          </a:xfrm>
          <a:prstGeom prst="roundRect">
            <a:avLst>
              <a:gd name="adj" fmla="val 49693"/>
            </a:avLst>
          </a:prstGeom>
          <a:solidFill>
            <a:srgbClr val="1277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request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06968" y="4151114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2624468" y="4097801"/>
            <a:ext cx="1392502" cy="408914"/>
          </a:xfrm>
          <a:prstGeom prst="roundRect">
            <a:avLst>
              <a:gd name="adj" fmla="val 49693"/>
            </a:avLst>
          </a:prstGeom>
          <a:solidFill>
            <a:srgbClr val="1277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Anita vs Ravi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8570" y="4151114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4436070" y="4097801"/>
            <a:ext cx="1676665" cy="408914"/>
          </a:xfrm>
          <a:prstGeom prst="roundRect">
            <a:avLst>
              <a:gd name="adj" fmla="val 49693"/>
            </a:avLst>
          </a:prstGeom>
          <a:solidFill>
            <a:srgbClr val="1277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conflict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214335" y="4151114"/>
            <a:ext cx="266700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277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531835" y="4097801"/>
            <a:ext cx="1539015" cy="408914"/>
          </a:xfrm>
          <a:prstGeom prst="roundRect">
            <a:avLst>
              <a:gd name="adj" fmla="val 49693"/>
            </a:avLst>
          </a:prstGeom>
          <a:solidFill>
            <a:srgbClr val="1277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evaluation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12800" y="6238280"/>
            <a:ext cx="28536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Agent | 4 of 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3FC1B0"/>
          </a:solidFill>
          <a:ln/>
        </p:spPr>
      </p:sp>
      <p:sp>
        <p:nvSpPr>
          <p:cNvPr id="3" name="Shape 1"/>
          <p:cNvSpPr/>
          <p:nvPr/>
        </p:nvSpPr>
        <p:spPr>
          <a:xfrm>
            <a:off x="10820400" y="457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1A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0718800" y="9652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2A541"/>
          </a:solidFill>
          <a:ln/>
        </p:spPr>
      </p:sp>
      <p:sp>
        <p:nvSpPr>
          <p:cNvPr id="5" name="Text 3"/>
          <p:cNvSpPr/>
          <p:nvPr>
            <p:ph type="title"/>
          </p:nvPr>
        </p:nvSpPr>
        <p:spPr>
          <a:xfrm>
            <a:off x="812800" y="812800"/>
            <a:ext cx="10883392" cy="472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12800" y="1513815"/>
            <a:ext cx="3403600" cy="2135981"/>
          </a:xfrm>
          <a:prstGeom prst="roundRect">
            <a:avLst>
              <a:gd name="adj" fmla="val 4757"/>
            </a:avLst>
          </a:prstGeom>
          <a:solidFill>
            <a:srgbClr val="1A2A44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1513815"/>
            <a:ext cx="3403600" cy="2135981"/>
          </a:xfrm>
          <a:custGeom>
            <a:avLst/>
            <a:gdLst/>
            <a:ahLst/>
            <a:cxnLst/>
            <a:rect l="l" t="t" r="r" b="b"/>
            <a:pathLst>
              <a:path w="3403600" h="213598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3FC1B0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1793215"/>
            <a:ext cx="30347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41400" y="2379929"/>
            <a:ext cx="303479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41400" y="2727855"/>
            <a:ext cx="30347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LangGraph agent that books, notifies and retries, with memory and a team of doctor agents.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94200" y="1513815"/>
            <a:ext cx="3403600" cy="2135981"/>
          </a:xfrm>
          <a:prstGeom prst="roundRect">
            <a:avLst>
              <a:gd name="adj" fmla="val 4757"/>
            </a:avLst>
          </a:prstGeom>
          <a:solidFill>
            <a:srgbClr val="1A2A44"/>
          </a:solidFill>
          <a:ln/>
        </p:spPr>
      </p:sp>
      <p:sp>
        <p:nvSpPr>
          <p:cNvPr id="12" name="Shape 10"/>
          <p:cNvSpPr/>
          <p:nvPr/>
        </p:nvSpPr>
        <p:spPr>
          <a:xfrm>
            <a:off x="4394200" y="1513815"/>
            <a:ext cx="3403600" cy="2135981"/>
          </a:xfrm>
          <a:custGeom>
            <a:avLst/>
            <a:gdLst/>
            <a:ahLst/>
            <a:cxnLst/>
            <a:rect l="l" t="t" r="r" b="b"/>
            <a:pathLst>
              <a:path w="3403600" h="213598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3FC1B0"/>
          </a:solidFill>
          <a:ln/>
        </p:spPr>
      </p:sp>
      <p:sp>
        <p:nvSpPr>
          <p:cNvPr id="13" name="Text 11"/>
          <p:cNvSpPr/>
          <p:nvPr/>
        </p:nvSpPr>
        <p:spPr>
          <a:xfrm>
            <a:off x="4622800" y="1793215"/>
            <a:ext cx="30347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22800" y="2379929"/>
            <a:ext cx="303479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modules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22800" y="2727855"/>
            <a:ext cx="30347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personalises decisions. Negotiation fits separate calendars and scales with more agents.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75600" y="1513815"/>
            <a:ext cx="3403600" cy="2135981"/>
          </a:xfrm>
          <a:prstGeom prst="roundRect">
            <a:avLst>
              <a:gd name="adj" fmla="val 4757"/>
            </a:avLst>
          </a:prstGeom>
          <a:solidFill>
            <a:srgbClr val="1A2A44"/>
          </a:solidFill>
          <a:ln/>
        </p:spPr>
      </p:sp>
      <p:sp>
        <p:nvSpPr>
          <p:cNvPr id="17" name="Shape 15"/>
          <p:cNvSpPr/>
          <p:nvPr/>
        </p:nvSpPr>
        <p:spPr>
          <a:xfrm>
            <a:off x="7975600" y="1513815"/>
            <a:ext cx="3403600" cy="2135981"/>
          </a:xfrm>
          <a:custGeom>
            <a:avLst/>
            <a:gdLst/>
            <a:ahLst/>
            <a:cxnLst/>
            <a:rect l="l" t="t" r="r" b="b"/>
            <a:pathLst>
              <a:path w="3403600" h="2135981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02000" y="0"/>
                </a:lnTo>
                <a:arcTo hR="101600" wR="101600" stAng="16200000" swAng="5400000"/>
                <a:lnTo>
                  <a:pt x="3403600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3FC1B0"/>
          </a:solidFill>
          <a:ln/>
        </p:spPr>
      </p:sp>
      <p:sp>
        <p:nvSpPr>
          <p:cNvPr id="18" name="Text 16"/>
          <p:cNvSpPr/>
          <p:nvPr/>
        </p:nvSpPr>
        <p:spPr>
          <a:xfrm>
            <a:off x="8204200" y="1793215"/>
            <a:ext cx="3034792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dirty="0">
                <a:solidFill>
                  <a:srgbClr val="F6F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04200" y="2379929"/>
            <a:ext cx="3034792" cy="284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3FC1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4200" y="2727855"/>
            <a:ext cx="30347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5DB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embeddings, a real SMS gateway, more specialties and Docker deployment.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800" y="3903796"/>
            <a:ext cx="10566400" cy="848320"/>
          </a:xfrm>
          <a:prstGeom prst="roundRect">
            <a:avLst>
              <a:gd name="adj" fmla="val 11977"/>
            </a:avLst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1092200" y="4169172"/>
            <a:ext cx="59959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adaptive and collaborative booking.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55522" y="4132396"/>
            <a:ext cx="184427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285361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AA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Appointment Agent | 5 of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spital Appointment Agent: Jury Presentation">
  <a:themeElements>
    <a:clrScheme name="Hospital Appointment Agent: Jury Presentation">
      <a:dk1>
        <a:srgbClr val="0F1B2D"/>
      </a:dk1>
      <a:lt1>
        <a:srgbClr val="F6F4EF"/>
      </a:lt1>
      <a:dk2>
        <a:srgbClr val="263140"/>
      </a:dk2>
      <a:lt2>
        <a:srgbClr val="BCBEBF"/>
      </a:lt2>
      <a:accent1>
        <a:srgbClr val="3FC1B0"/>
      </a:accent1>
      <a:accent2>
        <a:srgbClr val="F2A541"/>
      </a:accent2>
      <a:accent3>
        <a:srgbClr val="12776B"/>
      </a:accent3>
      <a:accent4>
        <a:srgbClr val="E5604F"/>
      </a:accent4>
      <a:accent5>
        <a:srgbClr val="3FB27F"/>
      </a:accent5>
      <a:accent6>
        <a:srgbClr val="5B6674"/>
      </a:accent6>
      <a:hlink>
        <a:srgbClr val="0563C1"/>
      </a:hlink>
      <a:folHlink>
        <a:srgbClr val="954F72"/>
      </a:folHlink>
    </a:clrScheme>
    <a:fontScheme name="Hospital Appointment Agent: Jury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Appointment Agent: Jury Presentation</dc:title>
  <dc:subject/>
  <dc:creator/>
  <cp:lastModifiedBy/>
  <cp:revision>1</cp:revision>
  <dcterms:created xsi:type="dcterms:W3CDTF">2026-10-19T19:59:45Z</dcterms:created>
  <dcterms:modified xsi:type="dcterms:W3CDTF">2026-10-19T19:59:45Z</dcterms:modified>
</cp:coreProperties>
</file>